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Descriptive Statistics and Probability in Biomedical 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Descriptive Statistics: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descriptive statistics consists of methods for organizing, summarizing, and presenting data in a way that provides insight into the characteristics of the dataset</a:t>
            </a:r>
          </a:p>
          <a:p>
            <a:pPr lvl="0"/>
            <a:r>
              <a:rPr/>
              <a:t>involves translacting raw biological or clinical data into structured summaries and visualizations that reflect the underlying variable type and probability structure of the data</a:t>
            </a:r>
          </a:p>
          <a:p>
            <a:pPr lvl="0"/>
            <a:r>
              <a:rPr/>
              <a:t>descriptive statistics is often the first step in understanding one’s data</a:t>
            </a:r>
          </a:p>
          <a:p>
            <a:pPr lvl="0" indent="0" marL="0">
              <a:buNone/>
            </a:pPr>
            <a:r>
              <a:rPr/>
              <a:t>Before modeling, hypothesis testing, or prediction one must determine:</a:t>
            </a:r>
          </a:p>
          <a:p>
            <a:pPr lvl="0"/>
            <a:r>
              <a:rPr/>
              <a:t>what kind of variable is being measured</a:t>
            </a:r>
          </a:p>
          <a:p>
            <a:pPr lvl="0"/>
            <a:r>
              <a:rPr/>
              <a:t>which summaries are mathematically appropriate</a:t>
            </a:r>
          </a:p>
          <a:p>
            <a:pPr lvl="0"/>
            <a:r>
              <a:rPr/>
              <a:t>which plots reflect the structure of the variable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Descriptive Statistics and Variable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descriptive statistics first consider:</a:t>
            </a:r>
          </a:p>
          <a:p>
            <a:pPr lvl="0" indent="0" marL="1270000">
              <a:buNone/>
            </a:pPr>
            <a:r>
              <a:rPr sz="2000" b="1"/>
              <a:t>What type of variable am I describing?</a:t>
            </a:r>
          </a:p>
          <a:p>
            <a:pPr lvl="0"/>
            <a:r>
              <a:rPr/>
              <a:t>in analysis, variables arise from different sources:</a:t>
            </a:r>
          </a:p>
          <a:p>
            <a:pPr lvl="1"/>
            <a:r>
              <a:rPr/>
              <a:t>mutation status [present/absent] → categorical</a:t>
            </a:r>
          </a:p>
          <a:p>
            <a:pPr lvl="1"/>
            <a:r>
              <a:rPr/>
              <a:t>tumor stage [I–IV] → ordinal</a:t>
            </a:r>
          </a:p>
          <a:p>
            <a:pPr lvl="1"/>
            <a:r>
              <a:rPr/>
              <a:t>mutation counts → discrete</a:t>
            </a:r>
          </a:p>
          <a:p>
            <a:pPr lvl="1"/>
            <a:r>
              <a:rPr/>
              <a:t>biomarker levels → continuous</a:t>
            </a:r>
          </a:p>
          <a:p>
            <a:pPr lvl="0"/>
            <a:r>
              <a:rPr/>
              <a:t>each data structure determines a distinct set of statistical properties, e.x.:</a:t>
            </a:r>
          </a:p>
          <a:p>
            <a:pPr lvl="0"/>
            <a:r>
              <a:rPr/>
              <a:t>set of allowable values the variable can take</a:t>
            </a:r>
          </a:p>
          <a:p>
            <a:pPr lvl="0"/>
            <a:r>
              <a:rPr/>
              <a:t>how variability appears across observations</a:t>
            </a:r>
          </a:p>
          <a:p>
            <a:pPr lvl="0"/>
            <a:r>
              <a:rPr/>
              <a:t>which numerical summaries appropriately represent the data</a:t>
            </a:r>
          </a:p>
          <a:p>
            <a:pPr lvl="0"/>
            <a:r>
              <a:rPr/>
              <a:t>which visualizations accurately reflect the distribution</a:t>
            </a:r>
          </a:p>
          <a:p>
            <a:pPr lvl="0"/>
            <a:r>
              <a:rPr/>
              <a:t>starting with continuing the variable being described you allow for:</a:t>
            </a:r>
          </a:p>
          <a:p>
            <a:pPr lvl="1"/>
            <a:r>
              <a:rPr/>
              <a:t>summaries align with the data-generating process</a:t>
            </a:r>
          </a:p>
          <a:p>
            <a:pPr lvl="1"/>
            <a:r>
              <a:rPr/>
              <a:t>visualizations reflect the true distribution of values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 Types Used in 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 types used in analysis:</a:t>
            </a:r>
          </a:p>
          <a:p>
            <a:pPr lvl="0"/>
            <a:r>
              <a:rPr b="1"/>
              <a:t>categorical nominal variables</a:t>
            </a:r>
          </a:p>
          <a:p>
            <a:pPr lvl="0"/>
            <a:r>
              <a:rPr b="1"/>
              <a:t>ordinal variables</a:t>
            </a:r>
          </a:p>
          <a:p>
            <a:pPr lvl="0"/>
            <a:r>
              <a:rPr b="1"/>
              <a:t>count variables</a:t>
            </a:r>
          </a:p>
          <a:p>
            <a:pPr lvl="0"/>
            <a:r>
              <a:rPr b="1"/>
              <a:t>continuous variables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Probability Connects to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probability tells us how often values or outcomes occur</a:t>
            </a:r>
          </a:p>
          <a:p>
            <a:pPr lvl="0"/>
            <a:r>
              <a:rPr/>
              <a:t>probability defined based on outcome variables:</a:t>
            </a:r>
          </a:p>
          <a:p>
            <a:pPr lvl="1"/>
            <a:r>
              <a:rPr/>
              <a:t>categorical variables: probabilities of categories</a:t>
            </a:r>
          </a:p>
          <a:p>
            <a:pPr lvl="1"/>
            <a:r>
              <a:rPr/>
              <a:t>ordinal variables: probabilities across ordered levels</a:t>
            </a:r>
          </a:p>
          <a:p>
            <a:pPr lvl="1"/>
            <a:r>
              <a:rPr/>
              <a:t>count variables: probabilities of integer counts</a:t>
            </a:r>
          </a:p>
          <a:p>
            <a:pPr lvl="1"/>
            <a:r>
              <a:rPr/>
              <a:t>continuous variables: density across a numeric range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 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</a:t>
            </a:r>
            <a:r>
              <a:rPr/>
              <a:t>: highlight how descriptive statistics can be used as summary and how plots are chosen based on variable type</a:t>
            </a:r>
          </a:p>
          <a:p>
            <a:pPr lvl="0" indent="-342900" marL="342900">
              <a:buAutoNum type="arabicPeriod"/>
            </a:pPr>
            <a:r>
              <a:rPr/>
              <a:t>generate a sample from a hypothetical population</a:t>
            </a:r>
            <a:br/>
          </a:p>
          <a:p>
            <a:pPr lvl="0" indent="-342900" marL="342900">
              <a:buAutoNum type="arabicPeriod"/>
            </a:pPr>
            <a:r>
              <a:rPr/>
              <a:t>identify four different variable types</a:t>
            </a:r>
            <a:br/>
          </a:p>
          <a:p>
            <a:pPr lvl="0" indent="-342900" marL="342900">
              <a:buAutoNum type="arabicPeriod"/>
            </a:pPr>
            <a:r>
              <a:rPr/>
              <a:t>compute probability-oriented summaries for each type</a:t>
            </a:r>
            <a:br/>
          </a:p>
          <a:p>
            <a:pPr lvl="0" indent="-342900" marL="342900">
              <a:buAutoNum type="arabicPeriod"/>
            </a:pPr>
            <a:r>
              <a:rPr/>
              <a:t>match each variable to an appropriate plot</a:t>
            </a:r>
            <a:br/>
          </a:p>
          <a:p>
            <a:pPr lvl="0" indent="-342900" marL="342900">
              <a:buAutoNum type="arabicPeriod"/>
            </a:pPr>
            <a:r>
              <a:rPr/>
              <a:t>interpret how variable structure determines description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Background</a:t>
            </a:r>
            <a:r>
              <a:rPr/>
              <a:t>: you received data from a pilot study designed to characterize inflammatory signaling and genomic alteration patterns in a cohort of 160 patients</a:t>
            </a:r>
          </a:p>
          <a:p>
            <a:pPr lvl="0" indent="0" marL="0">
              <a:buNone/>
            </a:pPr>
            <a:r>
              <a:rPr/>
              <a:t>Each patient represents a single observational unit sampled from a broader clinical population. The goal is to describe how molecular and clinical features vary across individuals and how these features are structured in the data.</a:t>
            </a:r>
          </a:p>
          <a:p>
            <a:pPr lvl="0" indent="0" marL="0">
              <a:buNone/>
            </a:pPr>
            <a:r>
              <a:rPr/>
              <a:t>For each patient, we record:</a:t>
            </a:r>
          </a:p>
          <a:p>
            <a:pPr lvl="0" indent="0" marL="0">
              <a:buNone/>
            </a:pPr>
            <a:r>
              <a:rPr b="1"/>
              <a:t>mutation status</a:t>
            </a:r>
            <a:r>
              <a:rPr/>
              <a:t>: mutation absent or present [categorical nominal]</a:t>
            </a:r>
          </a:p>
          <a:p>
            <a:pPr lvl="0" indent="0" marL="0">
              <a:buNone/>
            </a:pPr>
            <a:r>
              <a:rPr b="1"/>
              <a:t>tumor stage</a:t>
            </a:r>
            <a:r>
              <a:rPr/>
              <a:t>: ordered clinical classification that describes how far a cancer has progressed in the body - I,II,III,IV [ordinal]</a:t>
            </a:r>
          </a:p>
          <a:p>
            <a:pPr lvl="0" indent="0" marL="0">
              <a:buNone/>
            </a:pPr>
            <a:r>
              <a:rPr b="1"/>
              <a:t>mutation count</a:t>
            </a:r>
            <a:r>
              <a:rPr/>
              <a:t> from a targeted sequencing panel: count of the number of times an alleles at a genomic locus - 0,1,2 [count]</a:t>
            </a:r>
          </a:p>
          <a:p>
            <a:pPr lvl="0" indent="0" marL="0">
              <a:buNone/>
            </a:pPr>
            <a:r>
              <a:rPr b="1"/>
              <a:t>IL-6 concentration [pg/mL]</a:t>
            </a:r>
            <a:r>
              <a:rPr/>
              <a:t>: as a circulating inflammatory biomarker [continuous]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biomed_sim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slice_head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5
   patient_id mutation_status tumor_stage mutation_count il6_pg_ml
   &lt;chr&gt;      &lt;fct&gt;           &lt;ord&gt;                &lt;int&gt;     &lt;dbl&gt;
 1 P001       Absent          IV                       2      9.4 
 2 P002       Absent          II                       1     10.9 
 3 P003       Absent          I                        1      5.23
 4 P004       Present         III                      3     11.6 
 5 P005       Absent          III                      3     14.8 
 6 P006       Absent          II                       4      5.27
 7 P007       Absent          II                       0      3.66
 8 P008       Present         III                      2      7.73
 9 P009       Absent          III                      2      6.34
10 P010       Present         III                      1      4.67</a:t>
            </a:r>
          </a:p>
          <a:p>
            <a:pPr lvl="0" indent="0" marL="0">
              <a:buNone/>
            </a:pPr>
            <a:r>
              <a:rPr b="1"/>
              <a:t>Key concepts</a:t>
            </a:r>
          </a:p>
          <a:p>
            <a:pPr lvl="0" indent="0" marL="0">
              <a:buNone/>
            </a:pPr>
            <a:r>
              <a:rPr b="1"/>
              <a:t>Why this simulation supports the lecture concepts</a:t>
            </a:r>
          </a:p>
          <a:p>
            <a:pPr lvl="0"/>
            <a:r>
              <a:rPr/>
              <a:t>mutation status shows a </a:t>
            </a:r>
            <a:r>
              <a:rPr b="1"/>
              <a:t>categorical probability distribution</a:t>
            </a:r>
          </a:p>
          <a:p>
            <a:pPr lvl="0"/>
            <a:r>
              <a:rPr/>
              <a:t>tumor stage shows an </a:t>
            </a:r>
            <a:r>
              <a:rPr b="1"/>
              <a:t>ordered probability distribution</a:t>
            </a:r>
          </a:p>
          <a:p>
            <a:pPr lvl="0"/>
            <a:r>
              <a:rPr/>
              <a:t>mutation count shows a </a:t>
            </a:r>
            <a:r>
              <a:rPr b="1"/>
              <a:t>discrete count distribution</a:t>
            </a:r>
          </a:p>
          <a:p>
            <a:pPr lvl="0"/>
            <a:r>
              <a:rPr/>
              <a:t>IL-6 shows a </a:t>
            </a:r>
            <a:r>
              <a:rPr b="1"/>
              <a:t>continuous distribution</a:t>
            </a:r>
            <a:r>
              <a:rPr/>
              <a:t> across a numeric scale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Inflammatory Signaling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(tbl, </a:t>
            </a:r>
            <a:r>
              <a:rPr>
                <a:solidFill>
                  <a:srgbClr val="657422"/>
                </a:solidFill>
                <a:latin typeface="Courier"/>
              </a:rPr>
              <a:t>align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"lllll"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Inflammatory Signaling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mutation_summary &lt;- biomed_sim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(mutation_status)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mutation_summary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3
  mutation_status     n  prob
  &lt;fct&gt;           &lt;int&gt; &lt;dbl&gt;
1 Absent            115 0.719
2 Present            45 0.281</a:t>
            </a:r>
          </a:p>
          <a:p>
            <a:pPr lvl="0" indent="0" marL="0">
              <a:buNone/>
            </a:pPr>
            <a:r>
              <a:rPr b="1"/>
              <a:t>Key parts of the code</a:t>
            </a:r>
          </a:p>
          <a:p>
            <a:pPr lvl="0"/>
            <a:r>
              <a:rPr>
                <a:latin typeface="Courier"/>
              </a:rPr>
              <a:t>count(mutation_status)</a:t>
            </a:r>
            <a:r>
              <a:rPr/>
              <a:t> counts the number of patients in each category</a:t>
            </a:r>
          </a:p>
          <a:p>
            <a:pPr lvl="0"/>
            <a:r>
              <a:rPr>
                <a:latin typeface="Courier"/>
              </a:rPr>
              <a:t>mutate(prob = n / sum(n))</a:t>
            </a:r>
            <a:r>
              <a:rPr/>
              <a:t> converts counts into proportions</a:t>
            </a:r>
          </a:p>
          <a:p>
            <a:pPr lvl="0"/>
            <a:r>
              <a:rPr>
                <a:latin typeface="Courier"/>
              </a:rPr>
              <a:t>prob</a:t>
            </a:r>
            <a:r>
              <a:rPr/>
              <a:t> column: probability distribution for mutation status in this sample</a:t>
            </a:r>
          </a:p>
          <a:p>
            <a:pPr lvl="0" indent="0" marL="0">
              <a:buNone/>
            </a:pPr>
            <a:r>
              <a:rPr b="1"/>
              <a:t>How to interpret the output</a:t>
            </a:r>
          </a:p>
          <a:p>
            <a:pPr lvl="0"/>
            <a:r>
              <a:rPr>
                <a:latin typeface="Courier"/>
              </a:rPr>
              <a:t>n</a:t>
            </a:r>
            <a:r>
              <a:rPr/>
              <a:t> gives the observed number of patients in each class</a:t>
            </a:r>
          </a:p>
          <a:p>
            <a:pPr lvl="0"/>
            <a:r>
              <a:rPr>
                <a:latin typeface="Courier"/>
              </a:rPr>
              <a:t>prob</a:t>
            </a:r>
            <a:r>
              <a:rPr/>
              <a:t> gives the estimated probability that a randomly selected patient from this sample falls into that class</a:t>
            </a:r>
          </a:p>
          <a:p>
            <a:pPr lvl="0"/>
            <a:r>
              <a:rPr/>
              <a:t>probabilities sum to 1 because every patient must belong to exactly one mutation-status category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Categorical Example: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(mutation_summary,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mutation_status,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prob))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geom_col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scale_y_continuous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percent_format</a:t>
            </a:r>
            <a:r>
              <a:rPr>
                <a:solidFill>
                  <a:srgbClr val="003B4F"/>
                </a:solidFill>
                <a:latin typeface="Courier"/>
              </a:rPr>
              <a:t>())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"Mutation Status: Empirical Category Probabilities"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"Mutation status"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proportion"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categorical variables are described by </a:t>
            </a:r>
            <a:r>
              <a:rPr b="1"/>
              <a:t>counts, proportions, and category probabilities</a:t>
            </a:r>
          </a:p>
          <a:p>
            <a:pPr lvl="0"/>
            <a:r>
              <a:rPr/>
              <a:t>X-axis: contains discrete categories</a:t>
            </a:r>
          </a:p>
          <a:p>
            <a:pPr lvl="0"/>
            <a:r>
              <a:rPr/>
              <a:t>bar height: represents the probability associated with each category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Ordinal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stage_summary &lt;- biomed_sim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(tumor_stage)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stage_summary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3
  tumor_stage     n  prob
  &lt;ord&gt;       &lt;int&gt; &lt;dbl&gt;
1 I              32 0.2  
2 II             50 0.312
3 III            38 0.238
4 IV             40 0.25 </a:t>
            </a:r>
          </a:p>
          <a:p>
            <a:pPr lvl="0" indent="0" marL="0">
              <a:buNone/>
            </a:pPr>
            <a:r>
              <a:rPr b="1"/>
              <a:t>Code Overview</a:t>
            </a:r>
          </a:p>
          <a:p>
            <a:pPr lvl="0"/>
            <a:r>
              <a:rPr>
                <a:latin typeface="Courier"/>
              </a:rPr>
              <a:t>tumor_stage</a:t>
            </a:r>
            <a:r>
              <a:rPr/>
              <a:t>: coded as an ordered factor</a:t>
            </a:r>
          </a:p>
          <a:p>
            <a:pPr lvl="0"/>
            <a:r>
              <a:rPr>
                <a:latin typeface="Courier"/>
              </a:rPr>
              <a:t>count()</a:t>
            </a:r>
            <a:r>
              <a:rPr/>
              <a:t>: summary of the number of samples within each tumor stage</a:t>
            </a:r>
          </a:p>
          <a:p>
            <a:pPr lvl="0"/>
            <a:r>
              <a:rPr>
                <a:latin typeface="Courier"/>
              </a:rPr>
              <a:t>prob = n / sum(n)</a:t>
            </a:r>
            <a:r>
              <a:rPr/>
              <a:t>: converts counts into sample probabilities</a:t>
            </a:r>
          </a:p>
          <a:p>
            <a:pPr lvl="0" indent="0" marL="0">
              <a:buNone/>
            </a:pPr>
            <a:r>
              <a:rPr b="1"/>
              <a:t>Notes</a:t>
            </a:r>
          </a:p>
          <a:p>
            <a:pPr lvl="0"/>
            <a:r>
              <a:rPr/>
              <a:t>stage I through IV define a progression</a:t>
            </a:r>
          </a:p>
          <a:p>
            <a:pPr lvl="0"/>
            <a:r>
              <a:rPr/>
              <a:t>preserving order makes the summary more interpretable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Ordinal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ggplot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(stage_summary,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aes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tumor_stage,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prob))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geom_col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scale_y_continuous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labels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percent_format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labs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title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"Tumor Stage: Ordered Distribution Across Levels"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"Tumor stage"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"Sample proportion"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theme_bw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</a:t>
                </a:r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bar plot chosen to show variable has discrete levels</a:t>
                </a:r>
              </a:p>
              <a:p>
                <a:pPr lvl="0"/>
                <a:r>
                  <a:rPr/>
                  <a:t>levels are arranged in clinical order from I to IV</a:t>
                </a:r>
              </a:p>
              <a:p>
                <a:pPr lvl="0"/>
                <a:r>
                  <a:rPr/>
                  <a:t>nominal categorical variable vs. ordinal variable: both use proportions, but the ordinal variable includes rank information [order of bars from stage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]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Mutation Count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(dplyr)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(tidyr)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count_summary &lt;- biomed_sim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(mutation_count)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complete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mutation_count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(mutation_count)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prob =</a:t>
            </a:r>
            <a:r>
              <a:rPr>
                <a:solidFill>
                  <a:srgbClr val="003B4F"/>
                </a:solidFill>
                <a:latin typeface="Courier"/>
              </a:rPr>
              <a:t> n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count_summary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11 × 3
   mutation_count     n    prob
            &lt;int&gt; &lt;int&gt;   &lt;dbl&gt;
 1              0    10 0.0625 
 2              1    23 0.144  
 3              2    38 0.238  
 4              3    34 0.212  
 5              4    24 0.15   
 6              5    12 0.075  
 7              6    10 0.0625 
 8              7     4 0.025  
 9              8     3 0.0188 
10              9     1 0.00625
11             11     1 0.00625</a:t>
            </a:r>
          </a:p>
          <a:p>
            <a:pPr lvl="0" indent="0" marL="0">
              <a:buNone/>
            </a:pPr>
            <a:r>
              <a:rPr b="1"/>
              <a:t>Code Overview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count(mutation_count)</a:t>
            </a:r>
            <a:r>
              <a:rPr/>
              <a:t>: counts observed frequencies for each mutation count </a:t>
            </a:r>
            <a:r>
              <a:rPr>
                <a:latin typeface="Courier"/>
              </a:rPr>
              <a:t>complete(mutation_count = 0:2, fill = list(n = 0))</a:t>
            </a:r>
            <a:r>
              <a:rPr/>
              <a:t>: mutation counts at {0,1,2} </a:t>
            </a:r>
            <a:r>
              <a:rPr>
                <a:latin typeface="Courier"/>
              </a:rPr>
              <a:t>prob = n / sum(n)</a:t>
            </a:r>
            <a:r>
              <a:rPr/>
              <a:t>: converts counts into a probability mass function (PMF)</a:t>
            </a:r>
          </a:p>
          <a:p>
            <a:pPr lvl="0" indent="0" marL="0">
              <a:buNone/>
            </a:pPr>
            <a:r>
              <a:rPr b="1"/>
              <a:t>Interpretation</a:t>
            </a:r>
            <a:r>
              <a:rPr/>
              <a:t>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mutation_count = 0</a:t>
            </a:r>
            <a:r>
              <a:rPr/>
              <a:t>: probability that no mutations are observed </a:t>
            </a:r>
            <a:r>
              <a:rPr>
                <a:latin typeface="Courier"/>
              </a:rPr>
              <a:t>mutation_count = 1</a:t>
            </a:r>
            <a:r>
              <a:rPr/>
              <a:t>: probability of exactly one mutation </a:t>
            </a:r>
            <a:r>
              <a:rPr>
                <a:latin typeface="Courier"/>
              </a:rPr>
              <a:t>mutation_count = 2</a:t>
            </a:r>
            <a:r>
              <a:rPr/>
              <a:t>: probability of exactly two mutations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Mutation Count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each bar represents the probability of observing a specific mutation count within the defined support {0,1,2}</a:t>
                </a:r>
              </a:p>
              <a:p>
                <a:pPr lvl="0"/>
                <a:r>
                  <a:rPr/>
                  <a:t>mutation count is restricted to a finite set of allowable integer values {0,1,2}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x-axis represents distinct, unordered count levels</a:t>
                </a:r>
              </a:p>
              <a:p>
                <a:pPr lvl="0"/>
                <a:r>
                  <a:rPr/>
                  <a:t>height of each bar corresponds to the probability P(X=x) for a specific count</a:t>
                </a:r>
              </a:p>
              <a:p>
                <a:pPr lvl="0"/>
                <a:r>
                  <a:rPr/>
                  <a:t>bars are separated because probabilities are assigned to individual count outcomes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Example: IL-6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il6_summary &lt;- biomed_sim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(il6_pg_ml),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(il6_pg_ml),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(il6_pg_ml),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(il6_pg_ml),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min_il6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(il6_pg_ml),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max_il6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(il6_pg_ml)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il6_summary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    n mean_il6 median_il6 sd_il6 iqr_il6 min_il6 max_il6
  &lt;int&gt;    &lt;dbl&gt;      &lt;dbl&gt;  &lt;dbl&gt;   &lt;dbl&gt;   &lt;dbl&gt;   &lt;dbl&gt;
1   160     8.52       7.45   4.80    5.57    1.96    31.6</a:t>
            </a:r>
          </a:p>
          <a:p>
            <a:pPr lvl="0" indent="0" marL="0">
              <a:buNone/>
            </a:pPr>
            <a:r>
              <a:rPr b="1"/>
              <a:t>Key parts of the code</a:t>
            </a:r>
          </a:p>
          <a:p>
            <a:pPr lvl="0"/>
            <a:r>
              <a:rPr>
                <a:latin typeface="Courier"/>
              </a:rPr>
              <a:t>summarise()</a:t>
            </a:r>
            <a:r>
              <a:rPr/>
              <a:t> reduces the full vector of IL-6 values into a set of descriptive statistics</a:t>
            </a:r>
          </a:p>
          <a:p>
            <a:pPr lvl="0"/>
            <a:r>
              <a:rPr>
                <a:latin typeface="Courier"/>
              </a:rPr>
              <a:t>mean()</a:t>
            </a:r>
            <a:r>
              <a:rPr/>
              <a:t> and </a:t>
            </a:r>
            <a:r>
              <a:rPr>
                <a:latin typeface="Courier"/>
              </a:rPr>
              <a:t>median()</a:t>
            </a:r>
            <a:r>
              <a:rPr/>
              <a:t>: describe summary statistics</a:t>
            </a:r>
          </a:p>
          <a:p>
            <a:pPr lvl="0"/>
            <a:r>
              <a:rPr>
                <a:latin typeface="Courier"/>
              </a:rPr>
              <a:t>sd()</a:t>
            </a:r>
            <a:r>
              <a:rPr/>
              <a:t> and </a:t>
            </a:r>
            <a:r>
              <a:rPr>
                <a:latin typeface="Courier"/>
              </a:rPr>
              <a:t>IQR()</a:t>
            </a:r>
            <a:r>
              <a:rPr/>
              <a:t>: data spread - standard deviation and interquartile range</a:t>
            </a:r>
          </a:p>
          <a:p>
            <a:pPr lvl="0"/>
            <a:r>
              <a:rPr>
                <a:latin typeface="Courier"/>
              </a:rPr>
              <a:t>min()</a:t>
            </a:r>
            <a:r>
              <a:rPr/>
              <a:t> and </a:t>
            </a:r>
            <a:r>
              <a:rPr>
                <a:latin typeface="Courier"/>
              </a:rPr>
              <a:t>max()</a:t>
            </a:r>
            <a:r>
              <a:rPr/>
              <a:t> : defines the observed range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if the mean &gt; median: data is often right skewed</a:t>
            </a:r>
          </a:p>
          <a:p>
            <a:pPr lvl="0"/>
            <a:r>
              <a:rPr/>
              <a:t>larger standard deviation : greater dispersion around the mean</a:t>
            </a:r>
          </a:p>
          <a:p>
            <a:pPr lvl="0"/>
            <a:r>
              <a:rPr/>
              <a:t>IQR captures the width of the middle 50% of the data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Example: IL-6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IL-6 is measured on a continuous numeric scale</a:t>
                </a:r>
              </a:p>
              <a:p>
                <a:pPr lvl="0"/>
                <a:r>
                  <a:rPr/>
                  <a:t>histogram groups nearby values into bins → overall distributional shape becomes visible</a:t>
                </a:r>
              </a:p>
              <a:p>
                <a:pPr lvl="0"/>
                <a:r>
                  <a:rPr/>
                  <a:t>shaded region represents the interquartile range (IQR), capturing the middle 50% of observed values</a:t>
                </a:r>
              </a:p>
              <a:p>
                <a:pPr lvl="1"/>
                <a:r>
                  <a:rPr/>
                  <a:t>IQR spans from the 25th percentile (Q1) to the 75th percentile (Q3)</a:t>
                </a:r>
              </a:p>
              <a:p>
                <a:pPr lvl="0"/>
                <a:r>
                  <a:rPr/>
                  <a:t>dashed line marks the median,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central location of the distribution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analysis begins by identifying what kind of variable is being measured in descriptive statistics</a:t>
                </a:r>
              </a:p>
              <a:p>
                <a:pPr lvl="0"/>
                <a:r>
                  <a:rPr/>
                  <a:t>review for descriptive statistics:</a:t>
                </a:r>
              </a:p>
              <a:p>
                <a:pPr lvl="0" indent="0" marL="0">
                  <a:buNone/>
                </a:pPr>
                <a:r>
                  <a:rPr/>
                  <a:t>observed values → variable type → probability structure → summary → plot observed values</a:t>
                </a:r>
              </a:p>
              <a:p>
                <a:pPr lvl="0"/>
                <a:r>
                  <a:rPr>
                    <a:latin typeface="Courier"/>
                  </a:rPr>
                  <a:t>categorical variables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described with counts, proportions, and bar plots</a:t>
                </a:r>
              </a:p>
              <a:p>
                <a:pPr lvl="0"/>
                <a:r>
                  <a:rPr>
                    <a:latin typeface="Courier"/>
                  </a:rPr>
                  <a:t>ordinal variables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described with ordered counts, ordered proportions, and plots that preserve rank</a:t>
                </a:r>
              </a:p>
              <a:p>
                <a:pPr lvl="0"/>
                <a:r>
                  <a:rPr>
                    <a:latin typeface="Courier"/>
                  </a:rPr>
                  <a:t>count variables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described through frequencies of integer outcomes and probability mass functions</a:t>
                </a:r>
              </a:p>
              <a:p>
                <a:pPr lvl="0"/>
                <a:r>
                  <a:rPr>
                    <a:latin typeface="Courier"/>
                  </a:rPr>
                  <a:t>continuous variables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described through center, spread, and distribution shape using summaries such as the mean, median, SD, and IQR</a:t>
                </a:r>
              </a:p>
              <a:p>
                <a:pPr lvl="1"/>
                <a:r>
                  <a:rPr/>
                  <a:t>plots: histograms or density-based displays</a:t>
                </a:r>
              </a:p>
              <a:p>
                <a:pPr lvl="0" indent="0" marL="0">
                  <a:buNone/>
                </a:pPr>
                <a:r>
                  <a:rPr b="1"/>
                  <a:t>Next Lecture</a:t>
                </a:r>
                <a:r>
                  <a:rPr/>
                  <a:t>: more focused discussion on variable identification and determining the descriptive metric, probability summary, and plot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and Probability in Biomedical Data Science</dc:title>
  <dc:creator> Lesley Chapman Hannah, Ph.D., M.S. College of Graduate Studies Northeast Ohio Medical University</dc:creator>
  <cp:keywords/>
  <dcterms:created xsi:type="dcterms:W3CDTF">2026-03-23T15:07:40Z</dcterms:created>
  <dcterms:modified xsi:type="dcterms:W3CDTF">2026-03-23T15:07:40Z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